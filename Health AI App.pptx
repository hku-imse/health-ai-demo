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.xml.rels" ContentType="application/vnd.openxmlformats-package.relationshi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47480" y="119880"/>
            <a:ext cx="8248680" cy="171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7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7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" name="Google Shape;11;p2" descr=""/>
          <p:cNvPicPr/>
          <p:nvPr/>
        </p:nvPicPr>
        <p:blipFill>
          <a:blip r:embed="rId2"/>
          <a:srcRect l="5173" t="9109" r="5173" b="11167"/>
          <a:stretch/>
        </p:blipFill>
        <p:spPr>
          <a:xfrm flipH="1" rot="10800000">
            <a:off x="1436400" y="2063880"/>
            <a:ext cx="6271200" cy="557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20000" y="369000"/>
            <a:ext cx="8195040" cy="7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6" name="Google Shape;67;p14" descr=""/>
          <p:cNvPicPr/>
          <p:nvPr/>
        </p:nvPicPr>
        <p:blipFill>
          <a:blip r:embed="rId2"/>
          <a:stretch/>
        </p:blipFill>
        <p:spPr>
          <a:xfrm>
            <a:off x="-2216880" y="1130400"/>
            <a:ext cx="4890960" cy="489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038480" y="228600"/>
            <a:ext cx="4723920" cy="22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038480" y="2581560"/>
            <a:ext cx="4723920" cy="23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360" y="0"/>
            <a:ext cx="391428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Google Shape;72;p15" descr=""/>
          <p:cNvPicPr/>
          <p:nvPr/>
        </p:nvPicPr>
        <p:blipFill>
          <a:blip r:embed="rId2"/>
          <a:stretch/>
        </p:blipFill>
        <p:spPr>
          <a:xfrm rot="13841400">
            <a:off x="7791840" y="3881520"/>
            <a:ext cx="2545200" cy="25452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12;p21" descr=""/>
          <p:cNvPicPr/>
          <p:nvPr/>
        </p:nvPicPr>
        <p:blipFill>
          <a:blip r:embed="rId2"/>
          <a:stretch/>
        </p:blipFill>
        <p:spPr>
          <a:xfrm rot="5400000">
            <a:off x="1677960" y="-3491640"/>
            <a:ext cx="5988960" cy="598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28600" y="2497680"/>
            <a:ext cx="506700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Google Shape;115;p21"/>
          <p:cNvSpPr/>
          <p:nvPr/>
        </p:nvSpPr>
        <p:spPr>
          <a:xfrm>
            <a:off x="4457880" y="3773880"/>
            <a:ext cx="445752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CREDITS: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 This presentation template was created by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SUSE"/>
                <a:ea typeface="SUSE"/>
                <a:hlinkClick r:id="rId3"/>
              </a:rPr>
              <a:t>Slidesgo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, and includes icons, infographics &amp; images by </a:t>
            </a:r>
            <a:r>
              <a:rPr b="1" lang="en" sz="1200" strike="noStrike" u="sng">
                <a:solidFill>
                  <a:schemeClr val="dk1"/>
                </a:solidFill>
                <a:effectLst/>
                <a:uFillTx/>
                <a:latin typeface="SUSE"/>
                <a:ea typeface="SUSE"/>
                <a:hlinkClick r:id="rId4"/>
              </a:rPr>
              <a:t>Freepik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369000"/>
            <a:ext cx="7703640" cy="7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20000" y="1228680"/>
            <a:ext cx="7703640" cy="35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Google Shape;20;p4" descr=""/>
          <p:cNvPicPr/>
          <p:nvPr/>
        </p:nvPicPr>
        <p:blipFill>
          <a:blip r:embed="rId2"/>
          <a:srcRect l="10768" t="5893" r="10039" b="16860"/>
          <a:stretch/>
        </p:blipFill>
        <p:spPr>
          <a:xfrm>
            <a:off x="7620120" y="-1945800"/>
            <a:ext cx="4072680" cy="39726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47840" y="123840"/>
            <a:ext cx="8248320" cy="171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7500" strike="noStrike" u="none">
                <a:solidFill>
                  <a:schemeClr val="dk1"/>
                </a:solidFill>
                <a:effectLst/>
                <a:uFillTx/>
                <a:latin typeface="Chakra Petch"/>
                <a:ea typeface="Chakra Petch"/>
              </a:rPr>
              <a:t>Health AI App</a:t>
            </a:r>
            <a:endParaRPr b="0" lang="fr-FR" sz="7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447840" y="1628640"/>
            <a:ext cx="8248320" cy="46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A Hands-On Lab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038480" y="228600"/>
            <a:ext cx="4723920" cy="22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Chakra Petch"/>
                <a:ea typeface="Chakra Petch"/>
              </a:rPr>
              <a:t>Introduction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038480" y="2581200"/>
            <a:ext cx="4723920" cy="23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Build a simple web app that uses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AI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 to generate a personal health report.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No prior coding required — we’ll use friendly tools (React for UI, MUI for components) and an AI API (OpenRouter) with step-by-step guidance.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Google Shape;169;p31" descr=""/>
          <p:cNvPicPr/>
          <p:nvPr/>
        </p:nvPicPr>
        <p:blipFill>
          <a:blip r:embed="rId1"/>
          <a:stretch/>
        </p:blipFill>
        <p:spPr>
          <a:xfrm flipH="1">
            <a:off x="360" y="0"/>
            <a:ext cx="391428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4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Chakra Petch"/>
              </a:rPr>
              <a:t>Topic 1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25" name="image6a044ed116914" descr="image6a044ed116919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Chakra Petch"/>
              </a:rPr>
              <a:t>Goal &amp; Demo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</a:rPr>
              <a:t>- See a live demo of the finished app https://dist-jet-psi-81.vercel.app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</a:rPr>
              <a:t>Goal: collect basic health info, convert units, and get a concise AI report with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SUSE"/>
              </a:rPr>
              <a:t>Body Metrics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</a:rPr>
              <a:t> and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SUSE"/>
              </a:rPr>
              <a:t>Recommendations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3960" y="371520"/>
            <a:ext cx="8191080" cy="75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Chakra Petch"/>
                <a:ea typeface="Chakra Petch"/>
              </a:rPr>
              <a:t>Flow Diagram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ubTitle"/>
          </p:nvPr>
        </p:nvSpPr>
        <p:spPr>
          <a:xfrm>
            <a:off x="3352680" y="1628640"/>
            <a:ext cx="5562360" cy="32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User fills form → App sends data to AI (OpenRouter) → AI streams back a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health report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AI system prompt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 = short job description telling the model how to format the report.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Chakra Petch"/>
              </a:rPr>
              <a:t>Setup Checklist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1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</a:rPr>
              <a:t>VS Code, Node.js (LTS), and Git installed. Get an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SUSE"/>
              </a:rPr>
              <a:t>OpenRouter API key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</a:rPr>
              <a:t> and add it to .env.local.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</a:rPr>
              <a:t>Run these commands to start: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</a:rPr>
              <a:t>git clone https://github.com/HKU-IMSE/health-ai-template.git\n\nnpm install\n\nnpm run dev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2" name="image6a044ed121289" descr="image6a044ed12128b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Chakra Petch"/>
              </a:rPr>
              <a:t>Topic 2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5" name="image6a044ed12b8bf" descr="image6a044ed12b8c1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Chakra Petch"/>
              </a:rPr>
              <a:t>Form UI (Part A)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</a:rPr>
              <a:t>Build a friendly form to collect name, age, sex, unit system, height, weight, activity, conditions, and goals.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</a:rPr>
              <a:t>Use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SUSE"/>
              </a:rPr>
              <a:t>MUI components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</a:rPr>
              <a:t> (TextField, Select, ToggleButtonGroup, Button). Estimated time: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SUSE"/>
              </a:rPr>
              <a:t>3–4 hours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3960" y="371520"/>
            <a:ext cx="8191080" cy="75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Chakra Petch"/>
                <a:ea typeface="Chakra Petch"/>
              </a:rPr>
              <a:t>Unit Conversion (Part B)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3352680" y="1628640"/>
            <a:ext cx="5562360" cy="32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Convert imperial → metric: (ft + in) × 2.54 = cm and lbs × 0.453592 = kg.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Worked example: 5 ft 9 in / 154 lbs →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175.3 cm / 69.9 kg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. Estimated time: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1.5–2 hours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038480" y="228600"/>
            <a:ext cx="4723920" cy="223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500" strike="noStrike" u="none">
                <a:solidFill>
                  <a:schemeClr val="dk1"/>
                </a:solidFill>
                <a:effectLst/>
                <a:uFillTx/>
                <a:latin typeface="Chakra Petch"/>
                <a:ea typeface="Chakra Petch"/>
              </a:rPr>
              <a:t>AI Prompt (Part C)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4038480" y="2581200"/>
            <a:ext cx="4723920" cy="233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A system prompt is a job description for the AI.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 It tells the model the exact output format and tone.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Require these 4 sections: Personal Profile, Body Metrics, Health Assessment, Recommendations. Keep each recommendations subsection concise. Estimated time: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2–3 hours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Google Shape;169;p31" descr=""/>
          <p:cNvPicPr/>
          <p:nvPr/>
        </p:nvPicPr>
        <p:blipFill>
          <a:blip r:embed="rId1"/>
          <a:stretch/>
        </p:blipFill>
        <p:spPr>
          <a:xfrm flipH="1">
            <a:off x="360" y="0"/>
            <a:ext cx="391428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23960" y="371520"/>
            <a:ext cx="8191080" cy="75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Chakra Petch"/>
                <a:ea typeface="Chakra Petch"/>
              </a:rPr>
              <a:t>Bonus Part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3352680" y="1628640"/>
            <a:ext cx="5562360" cy="32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Ready for extra challenges? Try adding input validation to improve user experience, a clear/reset button for convenience, or create an extra AI report section like a meal plan. You can also experiment with switching AI models. These tasks help deepen your skills and make the app even more powerful and user-friendly!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3960" y="371520"/>
            <a:ext cx="8191080" cy="75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Chakra Petch"/>
                <a:ea typeface="Chakra Petch"/>
              </a:rPr>
              <a:t>Conclusions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ubTitle"/>
          </p:nvPr>
        </p:nvSpPr>
        <p:spPr>
          <a:xfrm>
            <a:off x="3352680" y="1628640"/>
            <a:ext cx="5562360" cy="328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You built a form, unit conversion, and an AI-powered report flow — a working health AI web app by the end of the lab.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Resources: React, MUI, OpenRouter, Vercel AI SDK docs.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You just built a real AI-powered app — what will you create next?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228600" y="1540440"/>
            <a:ext cx="5067000" cy="201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6000" strike="noStrike" u="none">
                <a:solidFill>
                  <a:schemeClr val="dk1"/>
                </a:solidFill>
                <a:effectLst/>
                <a:uFillTx/>
                <a:latin typeface="Chakra Petch"/>
                <a:ea typeface="Chakra Petch"/>
              </a:rPr>
              <a:t>Thank you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228600" y="3552840"/>
            <a:ext cx="4086000" cy="136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6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Do you have any questions?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youremail@freepik.com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+00 000 000 000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effectLst/>
                <a:uFillTx/>
                <a:latin typeface="SUSE"/>
                <a:ea typeface="SUSE"/>
              </a:rPr>
              <a:t>yourwebsite.com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9" name="Google Shape;270;p41"/>
          <p:cNvGrpSpPr/>
          <p:nvPr/>
        </p:nvGrpSpPr>
        <p:grpSpPr>
          <a:xfrm>
            <a:off x="6778080" y="3391200"/>
            <a:ext cx="275760" cy="275760"/>
            <a:chOff x="6778080" y="3391200"/>
            <a:chExt cx="275760" cy="275760"/>
          </a:xfrm>
        </p:grpSpPr>
        <p:sp>
          <p:nvSpPr>
            <p:cNvPr id="50" name="Google Shape;271;p41"/>
            <p:cNvSpPr/>
            <p:nvPr/>
          </p:nvSpPr>
          <p:spPr>
            <a:xfrm>
              <a:off x="6778080" y="3391200"/>
              <a:ext cx="275760" cy="27576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275760"/>
                <a:gd name="textAreaBottom" fmla="*/ 276120 h 27576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272;p41"/>
            <p:cNvSpPr/>
            <p:nvPr/>
          </p:nvSpPr>
          <p:spPr>
            <a:xfrm>
              <a:off x="6842160" y="3456720"/>
              <a:ext cx="146880" cy="14400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0" bIns="72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273;p41"/>
            <p:cNvSpPr/>
            <p:nvPr/>
          </p:nvSpPr>
          <p:spPr>
            <a:xfrm>
              <a:off x="6971760" y="3426480"/>
              <a:ext cx="37440" cy="3708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3" name="Google Shape;274;p41"/>
          <p:cNvGrpSpPr/>
          <p:nvPr/>
        </p:nvGrpSpPr>
        <p:grpSpPr>
          <a:xfrm>
            <a:off x="7653960" y="3409920"/>
            <a:ext cx="266400" cy="237960"/>
            <a:chOff x="7653960" y="3409920"/>
            <a:chExt cx="266400" cy="237960"/>
          </a:xfrm>
        </p:grpSpPr>
        <p:sp>
          <p:nvSpPr>
            <p:cNvPr id="54" name="Google Shape;275;p41"/>
            <p:cNvSpPr/>
            <p:nvPr/>
          </p:nvSpPr>
          <p:spPr>
            <a:xfrm>
              <a:off x="7663320" y="3493800"/>
              <a:ext cx="60840" cy="1540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276;p41"/>
            <p:cNvSpPr/>
            <p:nvPr/>
          </p:nvSpPr>
          <p:spPr>
            <a:xfrm>
              <a:off x="7653960" y="3409920"/>
              <a:ext cx="70200" cy="702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277;p41"/>
            <p:cNvSpPr/>
            <p:nvPr/>
          </p:nvSpPr>
          <p:spPr>
            <a:xfrm>
              <a:off x="7756560" y="3493800"/>
              <a:ext cx="163800" cy="154080"/>
            </a:xfrm>
            <a:custGeom>
              <a:avLst/>
              <a:gdLst>
                <a:gd name="textAreaLeft" fmla="*/ 0 w 163800"/>
                <a:gd name="textAreaRight" fmla="*/ 164160 w 16380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7" name="Google Shape;278;p41"/>
          <p:cNvSpPr/>
          <p:nvPr/>
        </p:nvSpPr>
        <p:spPr>
          <a:xfrm>
            <a:off x="4381560" y="4334040"/>
            <a:ext cx="44575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Google Shape;279;p41"/>
          <p:cNvSpPr/>
          <p:nvPr/>
        </p:nvSpPr>
        <p:spPr>
          <a:xfrm>
            <a:off x="8521200" y="3391920"/>
            <a:ext cx="268200" cy="273960"/>
          </a:xfrm>
          <a:custGeom>
            <a:avLst/>
            <a:gdLst>
              <a:gd name="textAreaLeft" fmla="*/ 0 w 268200"/>
              <a:gd name="textAreaRight" fmla="*/ 268560 w 268200"/>
              <a:gd name="textAreaTop" fmla="*/ 0 h 273960"/>
              <a:gd name="textAreaBottom" fmla="*/ 274320 h 273960"/>
            </a:gdLst>
            <a:ahLst/>
            <a:cxnLst/>
            <a:rect l="textAreaLeft" t="textAreaTop" r="textAreaRight" b="textAreaBottom"/>
            <a:pathLst>
              <a:path w="6712561" h="6860069">
                <a:moveTo>
                  <a:pt x="3994869" y="2904749"/>
                </a:moveTo>
                <a:lnTo>
                  <a:pt x="6493788" y="0"/>
                </a:lnTo>
                <a:lnTo>
                  <a:pt x="5901628" y="0"/>
                </a:lnTo>
                <a:lnTo>
                  <a:pt x="3731848" y="2522189"/>
                </a:lnTo>
                <a:lnTo>
                  <a:pt x="1998833" y="0"/>
                </a:lnTo>
                <a:lnTo>
                  <a:pt x="0" y="0"/>
                </a:lnTo>
                <a:lnTo>
                  <a:pt x="2620640" y="3813966"/>
                </a:lnTo>
                <a:lnTo>
                  <a:pt x="0" y="6860070"/>
                </a:lnTo>
                <a:lnTo>
                  <a:pt x="592216" y="6860070"/>
                </a:lnTo>
                <a:lnTo>
                  <a:pt x="2883548" y="4196581"/>
                </a:lnTo>
                <a:lnTo>
                  <a:pt x="4713728" y="6860070"/>
                </a:lnTo>
                <a:lnTo>
                  <a:pt x="6712561" y="6860070"/>
                </a:lnTo>
                <a:lnTo>
                  <a:pt x="3994757" y="2904749"/>
                </a:lnTo>
                <a:lnTo>
                  <a:pt x="3994925" y="2904749"/>
                </a:lnTo>
                <a:close/>
                <a:moveTo>
                  <a:pt x="3183768" y="3847528"/>
                </a:moveTo>
                <a:lnTo>
                  <a:pt x="2918230" y="3467765"/>
                </a:lnTo>
                <a:lnTo>
                  <a:pt x="805563" y="445770"/>
                </a:lnTo>
                <a:lnTo>
                  <a:pt x="1715115" y="445770"/>
                </a:lnTo>
                <a:lnTo>
                  <a:pt x="3420106" y="2884611"/>
                </a:lnTo>
                <a:lnTo>
                  <a:pt x="3685644" y="3264375"/>
                </a:lnTo>
                <a:lnTo>
                  <a:pt x="5901907" y="6434494"/>
                </a:lnTo>
                <a:lnTo>
                  <a:pt x="4992356" y="6434494"/>
                </a:lnTo>
                <a:lnTo>
                  <a:pt x="3183824" y="3847640"/>
                </a:lnTo>
                <a:lnTo>
                  <a:pt x="3183824" y="3847472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I Tools by Slidesgo">
  <a:themeElements>
    <a:clrScheme name="Simple Light">
      <a:dk1>
        <a:srgbClr val="1c1917"/>
      </a:dk1>
      <a:lt1>
        <a:srgbClr val="ffffff"/>
      </a:lt1>
      <a:dk2>
        <a:srgbClr val="fcd115"/>
      </a:dk2>
      <a:lt2>
        <a:srgbClr val="eb6c11"/>
      </a:lt2>
      <a:accent1>
        <a:srgbClr val="f024d7"/>
      </a:accent1>
      <a:accent2>
        <a:srgbClr val="9111bd"/>
      </a:accent2>
      <a:accent3>
        <a:srgbClr val="67fafa"/>
      </a:accent3>
      <a:accent4>
        <a:srgbClr val="ffffff"/>
      </a:accent4>
      <a:accent5>
        <a:srgbClr val="ffffff"/>
      </a:accent5>
      <a:accent6>
        <a:srgbClr val="ffffff"/>
      </a:accent6>
      <a:hlink>
        <a:srgbClr val="1c191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2026-05-13T10:13:36Z</dcterms:created>
  <dc:creator>Unknown Creator</dc:creator>
  <dc:description/>
  <dc:language>en-US</dc:language>
  <cp:lastModifiedBy>Unknown Creator</cp:lastModifiedBy>
  <dcterms:modified xsi:type="dcterms:W3CDTF">2026-05-13T10:13:36Z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13</vt:r8>
  </property>
</Properties>
</file>